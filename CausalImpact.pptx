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1" r:id="rId2"/>
    <p:sldId id="324" r:id="rId3"/>
    <p:sldId id="325" r:id="rId4"/>
    <p:sldId id="326" r:id="rId5"/>
    <p:sldId id="328" r:id="rId6"/>
    <p:sldId id="330" r:id="rId7"/>
    <p:sldId id="329" r:id="rId8"/>
    <p:sldId id="331" r:id="rId9"/>
    <p:sldId id="332" r:id="rId10"/>
    <p:sldId id="333" r:id="rId11"/>
    <p:sldId id="334" r:id="rId12"/>
    <p:sldId id="335" r:id="rId13"/>
    <p:sldId id="327" r:id="rId14"/>
    <p:sldId id="33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FE9"/>
    <a:srgbClr val="845D38"/>
    <a:srgbClr val="421E06"/>
    <a:srgbClr val="CDF2FF"/>
    <a:srgbClr val="4D2F1E"/>
    <a:srgbClr val="D2C0B4"/>
    <a:srgbClr val="261314"/>
    <a:srgbClr val="FAE7D9"/>
    <a:srgbClr val="187A71"/>
    <a:srgbClr val="22A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5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06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68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946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96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71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78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93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64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72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734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22292-3DAA-4253-9586-C417BC669E59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47F5E-D3D6-4EAF-95AC-1EF9C98CFA3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8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217332" y="1285875"/>
            <a:ext cx="5936193" cy="15084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  <a:prstDash val="dash"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909351" y="4063675"/>
            <a:ext cx="1212980" cy="587022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이지훈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7B2FA2-6349-753D-FC06-64FB89F8A1B0}"/>
              </a:ext>
            </a:extLst>
          </p:cNvPr>
          <p:cNvSpPr/>
          <p:nvPr/>
        </p:nvSpPr>
        <p:spPr>
          <a:xfrm>
            <a:off x="3980499" y="2955343"/>
            <a:ext cx="4409856" cy="4744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CausalImpact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: Bayesian Structural Time Series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131FE4-AF7F-FB5A-D47D-3DE64B4F2B4D}"/>
              </a:ext>
            </a:extLst>
          </p:cNvPr>
          <p:cNvSpPr/>
          <p:nvPr/>
        </p:nvSpPr>
        <p:spPr>
          <a:xfrm>
            <a:off x="3326665" y="1396323"/>
            <a:ext cx="5717525" cy="1175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800" dirty="0" err="1">
                <a:solidFill>
                  <a:schemeClr val="bg2">
                    <a:lumMod val="50000"/>
                  </a:schemeClr>
                </a:solidFill>
              </a:rPr>
              <a:t>CausalImpact</a:t>
            </a:r>
            <a:endParaRPr lang="en-US" altLang="ko-KR"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39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AFEB0-35AB-459C-4253-D6C18F0D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5D6E6A1-6AF7-1C22-88FC-FF3B15FF37F7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E2C8E9-4BFD-54E3-0C51-9AB5CEFF91E4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서론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4D2E96-8927-79CF-F905-E78279C51E7E}"/>
              </a:ext>
            </a:extLst>
          </p:cNvPr>
          <p:cNvSpPr/>
          <p:nvPr/>
        </p:nvSpPr>
        <p:spPr>
          <a:xfrm>
            <a:off x="16214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BB932F77-2037-EDFE-25C4-2B1D65CF35D5}"/>
              </a:ext>
            </a:extLst>
          </p:cNvPr>
          <p:cNvSpPr txBox="1"/>
          <p:nvPr/>
        </p:nvSpPr>
        <p:spPr>
          <a:xfrm>
            <a:off x="175834" y="1875160"/>
            <a:ext cx="11840332" cy="1225940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2014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년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Kay H. Brodersen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과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Alain Hauser(Google)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에 의해 개발 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시계열 데이터에 가해진 의도적인 개입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(intervention)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의 인과적 효과를 추정하는 방법론을 구현한 도구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184352-15B4-20A3-1EB9-6A7D10280996}"/>
              </a:ext>
            </a:extLst>
          </p:cNvPr>
          <p:cNvSpPr/>
          <p:nvPr/>
        </p:nvSpPr>
        <p:spPr>
          <a:xfrm>
            <a:off x="454183" y="1275926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</a:rPr>
              <a:t>CausalImpact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소개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FBE1A1F-525F-9A38-2CBC-28A4D4B47582}"/>
              </a:ext>
            </a:extLst>
          </p:cNvPr>
          <p:cNvSpPr txBox="1"/>
          <p:nvPr/>
        </p:nvSpPr>
        <p:spPr>
          <a:xfrm>
            <a:off x="162144" y="3894719"/>
            <a:ext cx="11840332" cy="2285742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CausalImpact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는 시계열 자료에서 어떤 개입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(Intervention)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으로 인한 효과를 파악하기 위한 방법론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개입 효과를 파악하기 위해 관측된 결과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(Observed outcome)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와 개입이 없었다면 생길 가상의 결과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(Expected outcome, Counterfactual)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간의 차이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{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개입 효과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}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를 계산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만약 그 개입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사건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이 발생하지 않았더라면 결과 지표가 어떻게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흘러갔을지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를 추정하여 실제 결과와 비교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개입 효과를 확인하고자 하는 시계열과 개입에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영향받지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않는 대조 대상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(Control)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이 되는 가 주어졌을 때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베이지안 구조적 시계열 모형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(Bayesian Structural time-series model)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을 구축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065B5D-2291-38F3-B551-BF512403DA54}"/>
              </a:ext>
            </a:extLst>
          </p:cNvPr>
          <p:cNvSpPr/>
          <p:nvPr/>
        </p:nvSpPr>
        <p:spPr>
          <a:xfrm>
            <a:off x="440493" y="3295486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</a:rPr>
              <a:t>CausalImpact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527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4E0BB-B33C-9765-FA1B-CF41AD8C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7B5DDB3-D09C-8E29-5775-84E9B3AA2C59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D2D006-1C4F-7123-1DEE-FF24E9CBCFC0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본론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9BBBD5-CEC1-6DE7-ED6A-EBBC5447BF74}"/>
              </a:ext>
            </a:extLst>
          </p:cNvPr>
          <p:cNvSpPr/>
          <p:nvPr/>
        </p:nvSpPr>
        <p:spPr>
          <a:xfrm>
            <a:off x="168989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64612F91-36C5-A3A2-60C5-6E065A35C832}"/>
              </a:ext>
            </a:extLst>
          </p:cNvPr>
          <p:cNvSpPr txBox="1"/>
          <p:nvPr/>
        </p:nvSpPr>
        <p:spPr>
          <a:xfrm>
            <a:off x="175834" y="1875159"/>
            <a:ext cx="11840332" cy="2351608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486900" lvl="0" indent="-342900">
              <a:buAutoNum type="arabicPeriod"/>
              <a:defRPr/>
            </a:pP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분석하려는 결과 시계열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(Outcome time series)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은 그 개입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(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사건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)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의 영향을 전혀 받지 않은 대조 시계열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(Control time series)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들의 조합으로 설명될 수 있어야 한다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. </a:t>
            </a: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(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매장 매출을 분석할 때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, 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광고의 영향을 안 받은 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＇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날씨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＇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나 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＇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환율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＇ </a:t>
            </a:r>
            <a:r>
              <a:rPr lang="ko-KR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같은 데이터를 대조군으로 써서 설명이 가능해야 한다는 뜻</a:t>
            </a:r>
            <a:r>
              <a:rPr lang="en-US" altLang="ko-KR"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.)</a:t>
            </a: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2.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처치 시계열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(Treated series)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과 대조 시계열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(Control series)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간의 관계는 개입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사건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이후의 기간에도 변함없이 안정적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(Stable)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Light"/>
                <a:ea typeface="KoPubWorld돋움체 Light"/>
                <a:cs typeface="KoPubWorld돋움체 Light"/>
              </a:rPr>
              <a:t>이라고 가정</a:t>
            </a:r>
            <a:endParaRPr lang="en-US" altLang="ko-KR" sz="1600" spc="0" dirty="0">
              <a:solidFill>
                <a:schemeClr val="tx1">
                  <a:lumMod val="65000"/>
                  <a:lumOff val="35000"/>
                </a:schemeClr>
              </a:solidFill>
              <a:latin typeface="KoPubWorld돋움체 Light"/>
              <a:ea typeface="KoPubWorld돋움체 Light"/>
              <a:cs typeface="KoPubWorld돋움체 Light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24F7E5-FD6F-42CA-B566-842689B122FE}"/>
              </a:ext>
            </a:extLst>
          </p:cNvPr>
          <p:cNvSpPr/>
          <p:nvPr/>
        </p:nvSpPr>
        <p:spPr>
          <a:xfrm>
            <a:off x="454183" y="1275926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기본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가정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35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C1EC1-5BA0-661B-1C16-C06967E3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5FF65C4-6210-AE1E-79B9-94A063DAD43C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BA9ECE-5926-74FC-210E-9338ED7E1D74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본론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3C2329-35DB-166F-4D51-E4CAC3627F67}"/>
              </a:ext>
            </a:extLst>
          </p:cNvPr>
          <p:cNvSpPr/>
          <p:nvPr/>
        </p:nvSpPr>
        <p:spPr>
          <a:xfrm>
            <a:off x="16214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1DFD1E0A-FD2B-5C67-A4C3-5552958AF70D}"/>
              </a:ext>
            </a:extLst>
          </p:cNvPr>
          <p:cNvSpPr txBox="1"/>
          <p:nvPr/>
        </p:nvSpPr>
        <p:spPr>
          <a:xfrm>
            <a:off x="175834" y="1875160"/>
            <a:ext cx="11840332" cy="1350606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모형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(BSTS):      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y_t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=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μ_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 +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γ_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 +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β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ᵀ 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x_t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+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ε_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.</a:t>
            </a:r>
            <a:r>
              <a:rPr lang="ko-KR" altLang="cy-GB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반사실</a:t>
            </a:r>
            <a:r>
              <a:rPr lang="ko-KR" altLang="cy-GB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예측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    ŷ_t^(cf) = E[y_t | x_t, pre-period</a:t>
            </a:r>
            <a:r>
              <a:rPr lang="ko-KR" altLang="cy-GB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로 학습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cy-GB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개입 없음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]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인과효과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      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τ_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 = y_t − ŷ_t^(cf)    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누적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Σ_{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t∈post}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τ_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t)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2D21D0-EBA3-1DD3-9B76-B500C9116B97}"/>
              </a:ext>
            </a:extLst>
          </p:cNvPr>
          <p:cNvSpPr/>
          <p:nvPr/>
        </p:nvSpPr>
        <p:spPr>
          <a:xfrm>
            <a:off x="454183" y="1275926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수식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027B39D9-8B3B-BD2D-D3FF-2D2CCB9FE0A8}"/>
              </a:ext>
            </a:extLst>
          </p:cNvPr>
          <p:cNvSpPr txBox="1"/>
          <p:nvPr/>
        </p:nvSpPr>
        <p:spPr>
          <a:xfrm>
            <a:off x="162144" y="3894719"/>
            <a:ext cx="11840332" cy="2285742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μ_t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(Trend):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추세 요인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-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데이터의 전체적인 흐름이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우상향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성장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인지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,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우하향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감소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인지를 나타내는 장기적인 경향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γ_t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(Seasonality):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계절성 요인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-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특정 주기마다 반복되는 패턴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βᵀ 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x_t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(Covariates):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공변량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외부 요인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 -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내 이벤트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개입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와는 무관하지만 결과에 영향을 미치는 외부 변수들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ε_t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(Noise):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오차항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-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위의 요인들로 설명되지 않는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무작위적인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변동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잡음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endParaRPr lang="ko-KR" altLang="en-US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</p:txBody>
      </p:sp>
    </p:spTree>
    <p:extLst>
      <p:ext uri="{BB962C8B-B14F-4D97-AF65-F5344CB8AC3E}">
        <p14:creationId xmlns:p14="http://schemas.microsoft.com/office/powerpoint/2010/main" val="3366533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D4AF7-F62D-9FD3-6D35-A0074DBC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6F0A890-64CC-B288-A139-8C444A3099C2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518EDB-E39E-1E87-7BDF-77A4F6BFEE5A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본론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ADCA51-42E7-63F9-7D39-963519D155F5}"/>
              </a:ext>
            </a:extLst>
          </p:cNvPr>
          <p:cNvSpPr/>
          <p:nvPr/>
        </p:nvSpPr>
        <p:spPr>
          <a:xfrm>
            <a:off x="18952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A5386D21-569B-3FE7-7D5E-54682AB49DD2}"/>
              </a:ext>
            </a:extLst>
          </p:cNvPr>
          <p:cNvSpPr txBox="1"/>
          <p:nvPr/>
        </p:nvSpPr>
        <p:spPr>
          <a:xfrm>
            <a:off x="175834" y="1875160"/>
            <a:ext cx="11840332" cy="1350606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모형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(BSTS):      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y_t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=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μ_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 +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γ_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 +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β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ᵀ 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x_t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+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ε_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.</a:t>
            </a:r>
            <a:r>
              <a:rPr lang="ko-KR" altLang="cy-GB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반사실</a:t>
            </a:r>
            <a:r>
              <a:rPr lang="ko-KR" altLang="cy-GB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예측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    ŷ_t^(cf) = E[y_t | x_t, pre-period</a:t>
            </a:r>
            <a:r>
              <a:rPr lang="ko-KR" altLang="cy-GB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로 학습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cy-GB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개입 없음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]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인과효과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      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τ_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 = y_t − ŷ_t^(cf)    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누적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Σ_{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t∈post} </a:t>
            </a:r>
            <a:r>
              <a:rPr lang="el-GR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τ_</a:t>
            </a:r>
            <a:r>
              <a:rPr lang="cy-GB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t)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D049EC-828C-8B1F-5B48-33A81A93473A}"/>
              </a:ext>
            </a:extLst>
          </p:cNvPr>
          <p:cNvSpPr/>
          <p:nvPr/>
        </p:nvSpPr>
        <p:spPr>
          <a:xfrm>
            <a:off x="454183" y="1275926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수식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756D32C2-1828-C5C3-538C-EB9DA69D7F5C}"/>
              </a:ext>
            </a:extLst>
          </p:cNvPr>
          <p:cNvSpPr txBox="1"/>
          <p:nvPr/>
        </p:nvSpPr>
        <p:spPr>
          <a:xfrm>
            <a:off x="162144" y="3894719"/>
            <a:ext cx="11840332" cy="2285742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모형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(BSTS) 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데이터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y_t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는 추세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μ_t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와 계절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γ_t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그리고 외부 요인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x_t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의 합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반사실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예측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ŷ_t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^(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cf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)) 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이벤트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개입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가 없었다고 치고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과거 데이터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(pre-period)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로 학습해서 예측한 가상의 값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(Expectation)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인과효과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τ_t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 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실제 현실과 가상 현실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반사실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의 차이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(Gap)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를 계산하여 성과를 입증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-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점 추정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: "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실제값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y_t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 -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가짜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예측값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ŷ_t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^(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cf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))" =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그날의 효과</a:t>
            </a: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-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누적 추정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: "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이벤트 기간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(post)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동안의 효과를 다 더한 값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(Σ)" =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총효과</a:t>
            </a:r>
            <a:endParaRPr lang="ko-KR" altLang="en-US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endParaRPr lang="ko-KR" altLang="en-US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</p:txBody>
      </p:sp>
    </p:spTree>
    <p:extLst>
      <p:ext uri="{BB962C8B-B14F-4D97-AF65-F5344CB8AC3E}">
        <p14:creationId xmlns:p14="http://schemas.microsoft.com/office/powerpoint/2010/main" val="295954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199A-D802-F86A-18A0-F8C0D86B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40553F4-9065-38A7-3155-1FBD768D9DC8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045C87-9E8D-F63C-795E-18C4F22FF856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실습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98D05F-F249-30BB-2C18-A248B588C576}"/>
              </a:ext>
            </a:extLst>
          </p:cNvPr>
          <p:cNvSpPr/>
          <p:nvPr/>
        </p:nvSpPr>
        <p:spPr>
          <a:xfrm>
            <a:off x="18952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E7EECEAF-93E2-FA53-0D61-FA4B2894CEE9}"/>
              </a:ext>
            </a:extLst>
          </p:cNvPr>
          <p:cNvSpPr txBox="1"/>
          <p:nvPr/>
        </p:nvSpPr>
        <p:spPr>
          <a:xfrm>
            <a:off x="175834" y="1875160"/>
            <a:ext cx="11840332" cy="1088121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2020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년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1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월부터 전 세계 국가별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/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날짜별 코로나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19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현황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사망자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회복자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날짜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국가명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type(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사망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회복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그날 발생 수치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4BFB32-5D90-B6E8-9062-704AA95992AE}"/>
              </a:ext>
            </a:extLst>
          </p:cNvPr>
          <p:cNvSpPr/>
          <p:nvPr/>
        </p:nvSpPr>
        <p:spPr>
          <a:xfrm>
            <a:off x="454183" y="1275926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데이터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6CC1E730-124A-6FE0-6FCC-33038C868F9E}"/>
              </a:ext>
            </a:extLst>
          </p:cNvPr>
          <p:cNvSpPr txBox="1"/>
          <p:nvPr/>
        </p:nvSpPr>
        <p:spPr>
          <a:xfrm>
            <a:off x="189524" y="4006314"/>
            <a:ext cx="11840332" cy="2150646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주인공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(y):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한국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(Korea)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분석 대상입니다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.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강력한 거리두기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/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방역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대조군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(x, Covariates):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미국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캐나다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그리스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일본 등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방역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/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거리두기를 한국보다 덜 심하게 한 나라들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 -&gt;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</a:t>
            </a: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CausalImpact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가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"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한국이 방역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/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거리두기을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안 했으면 어땠을까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?"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를 가정하기 위해 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 -&gt;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그 시기 전 세계적인 바이러스의 위력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트렌드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을 모델에게 알려줌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한국과 경제 규모가 비슷하거나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비슷한 시기에 확산이 시작된 나라들을 골라서 세계적인 확산 트렌드를 반영하는 용도로 사용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374C61-D915-BA5C-F419-30B2E0020C1E}"/>
              </a:ext>
            </a:extLst>
          </p:cNvPr>
          <p:cNvSpPr/>
          <p:nvPr/>
        </p:nvSpPr>
        <p:spPr>
          <a:xfrm>
            <a:off x="467873" y="3407080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대조군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13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E334-3274-CEDD-AE78-D37053162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40A1C10-0825-8067-9776-4C3777688041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D5C584-26CC-7F50-F7FF-837D449A62B8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실습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319B0B-C93C-CA6C-BF16-39A20A74E900}"/>
              </a:ext>
            </a:extLst>
          </p:cNvPr>
          <p:cNvSpPr/>
          <p:nvPr/>
        </p:nvSpPr>
        <p:spPr>
          <a:xfrm>
            <a:off x="236177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5A67D8AA-58BA-8AAF-F9B0-FD1839182213}"/>
              </a:ext>
            </a:extLst>
          </p:cNvPr>
          <p:cNvSpPr txBox="1"/>
          <p:nvPr/>
        </p:nvSpPr>
        <p:spPr>
          <a:xfrm>
            <a:off x="5111325" y="2360528"/>
            <a:ext cx="6169385" cy="775844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전체 데이터에서 주인공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한국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과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비교 대상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미국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일본 등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 뽑아내는 과정</a:t>
            </a:r>
            <a:endParaRPr lang="en-US" altLang="ko-KR" sz="11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한국의 </a:t>
            </a:r>
            <a:r>
              <a:rPr lang="ko-KR" altLang="en-US" sz="1100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반사실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정책이 없었을 때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예측에 도움이 될 만한 나라를 </a:t>
            </a:r>
            <a:r>
              <a:rPr lang="ko-KR" altLang="en-US" sz="1100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공변량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(Covariates)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으로 선정</a:t>
            </a:r>
            <a:endParaRPr lang="en-US" altLang="ko-KR" sz="11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pic>
        <p:nvPicPr>
          <p:cNvPr id="9" name="그림 8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1BA6D2-C07F-35A2-9705-5D2CBFAA4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71" y="1134883"/>
            <a:ext cx="3977985" cy="5499182"/>
          </a:xfrm>
          <a:prstGeom prst="rect">
            <a:avLst/>
          </a:prstGeom>
        </p:spPr>
      </p:pic>
      <p:pic>
        <p:nvPicPr>
          <p:cNvPr id="12" name="그림 11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8C2B7B-2E0E-7828-6297-321D02FD6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592" y="1170115"/>
            <a:ext cx="4359018" cy="111261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14E634A-8A9A-C59C-1B41-5E09D71EB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592" y="3393941"/>
            <a:ext cx="4778154" cy="327688"/>
          </a:xfrm>
          <a:prstGeom prst="rect">
            <a:avLst/>
          </a:prstGeom>
        </p:spPr>
      </p:pic>
      <p:sp>
        <p:nvSpPr>
          <p:cNvPr id="18" name="텍스트 개체 틀 6">
            <a:extLst>
              <a:ext uri="{FF2B5EF4-FFF2-40B4-BE49-F238E27FC236}">
                <a16:creationId xmlns:a16="http://schemas.microsoft.com/office/drawing/2014/main" id="{AA5E89FE-5A10-8BFA-D997-68190C74703A}"/>
              </a:ext>
            </a:extLst>
          </p:cNvPr>
          <p:cNvSpPr txBox="1"/>
          <p:nvPr/>
        </p:nvSpPr>
        <p:spPr>
          <a:xfrm>
            <a:off x="5111325" y="3884474"/>
            <a:ext cx="6169385" cy="1051420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언제를 기점으로 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Before(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학습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과 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After(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예측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/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비교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를 나눌지 선정</a:t>
            </a:r>
            <a:endParaRPr lang="en-US" altLang="ko-KR" sz="11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z="1100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pre_period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이때까지는 아무 일도 없었고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한국과 다른 나라의 관계를 학습</a:t>
            </a:r>
            <a:endParaRPr lang="en-US" altLang="ko-KR" sz="11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z="1100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Post_period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이때부터 정책이 시작되었고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학습한 내용을 바탕으로 효과를 검증</a:t>
            </a:r>
            <a:endParaRPr lang="en-US" altLang="ko-KR" sz="11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pic>
        <p:nvPicPr>
          <p:cNvPr id="20" name="그림 19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BB6F9B-77C9-0C28-E781-FB632D7EB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797" y="5143088"/>
            <a:ext cx="3322608" cy="381033"/>
          </a:xfrm>
          <a:prstGeom prst="rect">
            <a:avLst/>
          </a:prstGeom>
        </p:spPr>
      </p:pic>
      <p:sp>
        <p:nvSpPr>
          <p:cNvPr id="21" name="텍스트 개체 틀 6">
            <a:extLst>
              <a:ext uri="{FF2B5EF4-FFF2-40B4-BE49-F238E27FC236}">
                <a16:creationId xmlns:a16="http://schemas.microsoft.com/office/drawing/2014/main" id="{75FA3E4E-9913-D606-38C0-BEA66158211A}"/>
              </a:ext>
            </a:extLst>
          </p:cNvPr>
          <p:cNvSpPr txBox="1"/>
          <p:nvPr/>
        </p:nvSpPr>
        <p:spPr>
          <a:xfrm>
            <a:off x="5111325" y="5530483"/>
            <a:ext cx="6169385" cy="1051420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준비된 데이터와 날짜 정보를 넣어 실제로 계산을 돌리는 단계</a:t>
            </a:r>
            <a:endParaRPr lang="en-US" altLang="ko-KR" sz="11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BSTS(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베이지안 구조적 시계열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 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모델이 돌아가며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실제 </a:t>
            </a:r>
            <a:r>
              <a:rPr lang="ko-KR" altLang="en-US" sz="1100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확진자와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예측된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z="1100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반사실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 </a:t>
            </a:r>
            <a:r>
              <a:rPr lang="ko-KR" altLang="en-US" sz="1100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확진자의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차이를 계산해 인과 효과</a:t>
            </a:r>
            <a:r>
              <a:rPr lang="en-US" altLang="ko-KR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(Impact)</a:t>
            </a:r>
            <a:r>
              <a:rPr lang="ko-KR" altLang="en-US" sz="11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를 산출</a:t>
            </a:r>
            <a:endParaRPr lang="en-US" altLang="ko-KR" sz="11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</p:spTree>
    <p:extLst>
      <p:ext uri="{BB962C8B-B14F-4D97-AF65-F5344CB8AC3E}">
        <p14:creationId xmlns:p14="http://schemas.microsoft.com/office/powerpoint/2010/main" val="10357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11E33-056B-41C7-A070-D57515420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FA19507-2053-6494-0BAF-B46F6B102FFD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6FA6E2-1E58-4070-69BD-548ECF1A3851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실습 결과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726360-F079-B77C-892F-EAF5F92C67EC}"/>
              </a:ext>
            </a:extLst>
          </p:cNvPr>
          <p:cNvSpPr/>
          <p:nvPr/>
        </p:nvSpPr>
        <p:spPr>
          <a:xfrm>
            <a:off x="18952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393523A5-4615-D9CF-2A0C-DC7E3FAA06A5}"/>
              </a:ext>
            </a:extLst>
          </p:cNvPr>
          <p:cNvSpPr txBox="1"/>
          <p:nvPr/>
        </p:nvSpPr>
        <p:spPr>
          <a:xfrm>
            <a:off x="6672747" y="1179137"/>
            <a:ext cx="5329728" cy="5482919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첫 번째 그래프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Original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실제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vs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예측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  <a:p>
            <a:pPr marL="360000" lvl="0" indent="-216000">
              <a:buFont typeface="Arial"/>
              <a:buChar char="•"/>
              <a:defRPr/>
            </a:pP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검은색 실선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(y, Actual):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한국의 실제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수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-&gt;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기준 선으로 방역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/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거리두기를 통해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폭증을 막고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있다를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의미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파란색 점선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(Predicted):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만약 거리두기를 안 했다면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?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에 대한 예측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타국 처럼 방역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/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거리두기를 안 하고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나두었을때의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가상의 한국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-&gt; 3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월 이후 하루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확진자가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12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넘게 치솟았을 거라고 예측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우리가 방역을 안 했으면 저 파란 점선처럼 감염자가 폭등 했을지도 모른다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123DA4-A8FA-707F-D8D4-3576BB8CD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32" b="8056"/>
          <a:stretch>
            <a:fillRect/>
          </a:stretch>
        </p:blipFill>
        <p:spPr bwMode="auto">
          <a:xfrm>
            <a:off x="312671" y="1091682"/>
            <a:ext cx="6246750" cy="557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19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42C2-AE69-41C3-F923-E2753079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AD94954-7353-A9B4-C1EF-62FA6934C479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5E514F-C2B2-AFCB-7363-636A16FB178D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실습 결과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B81419B-2362-B64C-FF92-45327B01FC44}"/>
              </a:ext>
            </a:extLst>
          </p:cNvPr>
          <p:cNvSpPr/>
          <p:nvPr/>
        </p:nvSpPr>
        <p:spPr>
          <a:xfrm>
            <a:off x="18952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C63DFD7A-7B17-A5AE-158E-2D0C381080BB}"/>
              </a:ext>
            </a:extLst>
          </p:cNvPr>
          <p:cNvSpPr txBox="1"/>
          <p:nvPr/>
        </p:nvSpPr>
        <p:spPr>
          <a:xfrm>
            <a:off x="6672747" y="1179137"/>
            <a:ext cx="5329728" cy="5482919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두 번째 그래프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Point Effects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일별 효과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  <a:p>
            <a:pPr marL="144000" lvl="0">
              <a:defRPr/>
            </a:pP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실제값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-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예측값을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계산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매일매일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확진자를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약 파란선의 값 만큼 줄이는 효과를 냈다는 뜻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수치가 음수인 이유는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'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실제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'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가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'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예측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'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보다 훨씬 적었기 때문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  <a:p>
            <a:pPr marL="360000" lvl="0" indent="-216000">
              <a:buFont typeface="Arial"/>
              <a:buChar char="•"/>
              <a:defRPr/>
            </a:pP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8AB47F0-C0F9-C285-4616-3373F11FAD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32" b="8056"/>
          <a:stretch>
            <a:fillRect/>
          </a:stretch>
        </p:blipFill>
        <p:spPr bwMode="auto">
          <a:xfrm>
            <a:off x="312671" y="1091682"/>
            <a:ext cx="6246750" cy="557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8ADBF9-44B1-585A-7D67-64E6E41EB27F}"/>
              </a:ext>
            </a:extLst>
          </p:cNvPr>
          <p:cNvSpPr txBox="1"/>
          <p:nvPr/>
        </p:nvSpPr>
        <p:spPr>
          <a:xfrm>
            <a:off x="1595535" y="6543193"/>
            <a:ext cx="4357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검은색 가로선</a:t>
            </a:r>
            <a:r>
              <a:rPr lang="en-US" altLang="ko-KR" sz="900" dirty="0"/>
              <a:t>(0) = </a:t>
            </a:r>
            <a:r>
              <a:rPr lang="ko-KR" altLang="en-US" sz="900" dirty="0"/>
              <a:t>기준선 </a:t>
            </a:r>
            <a:r>
              <a:rPr lang="en-US" altLang="ko-KR" sz="900" dirty="0"/>
              <a:t>= </a:t>
            </a:r>
            <a:r>
              <a:rPr lang="ko-KR" altLang="en-US" sz="900" dirty="0" err="1"/>
              <a:t>예측값과</a:t>
            </a:r>
            <a:r>
              <a:rPr lang="ko-KR" altLang="en-US" sz="900" dirty="0"/>
              <a:t> </a:t>
            </a:r>
            <a:r>
              <a:rPr lang="ko-KR" altLang="en-US" sz="900" dirty="0" err="1"/>
              <a:t>실제값이</a:t>
            </a:r>
            <a:r>
              <a:rPr lang="ko-KR" altLang="en-US" sz="900" dirty="0"/>
              <a:t> 똑같다 </a:t>
            </a:r>
            <a:r>
              <a:rPr lang="en-US" altLang="ko-KR" sz="900" dirty="0"/>
              <a:t>= </a:t>
            </a:r>
            <a:r>
              <a:rPr lang="ko-KR" altLang="en-US" sz="900" dirty="0"/>
              <a:t>한국에서의 </a:t>
            </a:r>
            <a:r>
              <a:rPr lang="ko-KR" altLang="en-US" sz="900" dirty="0" err="1"/>
              <a:t>확진자</a:t>
            </a:r>
            <a:r>
              <a:rPr lang="ko-KR" altLang="en-US" sz="900" dirty="0"/>
              <a:t> 수</a:t>
            </a:r>
          </a:p>
        </p:txBody>
      </p:sp>
    </p:spTree>
    <p:extLst>
      <p:ext uri="{BB962C8B-B14F-4D97-AF65-F5344CB8AC3E}">
        <p14:creationId xmlns:p14="http://schemas.microsoft.com/office/powerpoint/2010/main" val="189069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03C7-9D6A-7EA0-D08F-AA2A1F1A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84CF9B1-B43C-9E8A-7DC9-D1FEE2AB4759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486249-CE29-FD0D-16CC-598BF7798DED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실습 결과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44BD4F-30DE-1505-36C4-9E1E6AE3063A}"/>
              </a:ext>
            </a:extLst>
          </p:cNvPr>
          <p:cNvSpPr/>
          <p:nvPr/>
        </p:nvSpPr>
        <p:spPr>
          <a:xfrm>
            <a:off x="18952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51ECF1F9-EF0E-DDC3-9362-3633A1A904D3}"/>
              </a:ext>
            </a:extLst>
          </p:cNvPr>
          <p:cNvSpPr txBox="1"/>
          <p:nvPr/>
        </p:nvSpPr>
        <p:spPr>
          <a:xfrm>
            <a:off x="6672747" y="1179137"/>
            <a:ext cx="5329728" cy="5482919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세 번째 그래프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Cumulative Effect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누적 효과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  <a:p>
            <a:pPr marL="144000" lvl="0"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방역 기간 전체를 통틀어 줄어든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총합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두 번째 그래프의 점수를 매일매일 더해서 누적한 값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방역 효과가 매일매일 쌓여서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총합이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줄어듬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184EDBF-FEF4-E666-1424-14D57F024D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32" b="8056"/>
          <a:stretch>
            <a:fillRect/>
          </a:stretch>
        </p:blipFill>
        <p:spPr bwMode="auto">
          <a:xfrm>
            <a:off x="312671" y="1091682"/>
            <a:ext cx="6246750" cy="557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818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6ABF2-EB6B-E232-9347-C352A65E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3A1F979-C251-E73C-7D4C-E218E8F20654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236C76-47C8-D081-1153-E7F662B44FF3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실습 결과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7A338F-AB25-4AA8-2C50-7809726021C1}"/>
              </a:ext>
            </a:extLst>
          </p:cNvPr>
          <p:cNvSpPr/>
          <p:nvPr/>
        </p:nvSpPr>
        <p:spPr>
          <a:xfrm>
            <a:off x="18952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FE644277-1233-786C-D821-C79C46BD144A}"/>
              </a:ext>
            </a:extLst>
          </p:cNvPr>
          <p:cNvSpPr txBox="1"/>
          <p:nvPr/>
        </p:nvSpPr>
        <p:spPr>
          <a:xfrm>
            <a:off x="189524" y="1018181"/>
            <a:ext cx="11812951" cy="5643875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144000" lvl="0"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분석 요약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(Summary)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Actual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실제 데이터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한국의 현실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정책 시행 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하루 평균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확진자는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134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명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   Cumulative: 8443.0 →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분석 기간 동안 발생한 총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확진자는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8,443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명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endParaRPr lang="en-US" altLang="ko-KR" sz="2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Prediction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예측 데이터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방역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/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거리두기를 안 했다면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?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대조군의 추세를 따라갔다면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하루 평균 약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6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9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천 명씩 확진</a:t>
            </a: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Cumulative: 4354477.47 →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기간 내 총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확진자는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약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435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 명에 달했을 것으로 예측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endParaRPr lang="en-US" altLang="ko-KR" sz="2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Absolute effect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절대적 효과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얼마나 줄었는지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매일매일 약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6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9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천 명의 확진을 막음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Cumulative: -4346034.47 →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기간 전체로 보면 총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434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 명의 확진을 예방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((-)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는 감소시켰다는 뜻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</a:p>
          <a:p>
            <a:pPr marL="144000" lvl="0">
              <a:defRPr/>
            </a:pPr>
            <a:endParaRPr lang="en-US" altLang="ko-KR" sz="2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Relative effect 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상대적 효과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감소율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예측치 대비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99.8%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감소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endParaRPr lang="en-US" altLang="ko-KR" sz="200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통계적 유의성 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Posterior tail-area probability p: 0.0                           Posterior prob. of a causal effect: 100.0%</a:t>
            </a: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p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값이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0 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이 결과가 우연일 확률은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0%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-&gt;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효과가 있었다는 것은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100%</a:t>
            </a:r>
          </a:p>
        </p:txBody>
      </p:sp>
      <p:pic>
        <p:nvPicPr>
          <p:cNvPr id="4" name="그림 3" descr="텍스트, 폰트, 스크린샷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6BE4F-598B-628F-B625-4A81E7728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110" y="121298"/>
            <a:ext cx="4543583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1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66FDE-8C7B-649A-2C97-5830C4F6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5346AD0-DABF-4E88-D37C-ABA72FE9F805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B41E20-8C3E-7894-B6C7-3BE07CA4980B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실습 결과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34002C-EACB-9A7F-47BF-15FC98F797A5}"/>
              </a:ext>
            </a:extLst>
          </p:cNvPr>
          <p:cNvSpPr/>
          <p:nvPr/>
        </p:nvSpPr>
        <p:spPr>
          <a:xfrm>
            <a:off x="18952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FA6B688D-1C2C-25DB-FA99-1CB3EBE60C89}"/>
              </a:ext>
            </a:extLst>
          </p:cNvPr>
          <p:cNvSpPr txBox="1"/>
          <p:nvPr/>
        </p:nvSpPr>
        <p:spPr>
          <a:xfrm>
            <a:off x="5137765" y="1179137"/>
            <a:ext cx="6864710" cy="5482919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144000" lvl="0">
              <a:defRPr/>
            </a:pP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정책 시행 덕분에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확진자가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예측치 대비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99.8%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감소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일일 평균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6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9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천 명 발생 예상을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134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명으로 억제</a:t>
            </a: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누적 합계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435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 명 발생 예상을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8,443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명으로 방어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이 결과가 우연일 확률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(p-value)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은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0.0</a:t>
            </a:r>
          </a:p>
          <a:p>
            <a:pPr marL="144000" lvl="0"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즉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확진자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 감소는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100%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정책의 효과임을 통계적으로 입증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감소폭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(-99.81%)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이 지나치게 큼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144000" lvl="0"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-&gt;</a:t>
            </a:r>
          </a:p>
          <a:p>
            <a:pPr marL="144000" lvl="0"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이는 비교 대상인 대조군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미국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유럽 등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의 확산세가 워낙 비정상적으로 폭발적이었기 때문에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반대로 한국의 예방 효과가 다소 과대평가 되었을 가능성도 염두에 두어야 함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pic>
        <p:nvPicPr>
          <p:cNvPr id="6" name="그림 5" descr="텍스트, 폰트, 스크린샷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48B925-CAC7-4257-3E88-D058DAD77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71" y="1179137"/>
            <a:ext cx="4701947" cy="3551228"/>
          </a:xfrm>
          <a:prstGeom prst="rect">
            <a:avLst/>
          </a:prstGeom>
        </p:spPr>
      </p:pic>
      <p:pic>
        <p:nvPicPr>
          <p:cNvPr id="8" name="그림 7" descr="텍스트, 폰트, 스크린샷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6787AD-EE99-D276-B673-F549ECFD1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71" y="4730365"/>
            <a:ext cx="4572396" cy="16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3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38C8A-693F-1B2F-68BE-D4C5BD81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06BFC24-3937-EBA3-2414-3EBD9762A9CD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8FFDB9-6409-6491-B350-6A679760CA7F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결론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532E9E-F97D-84E5-643D-2F99A3D2459E}"/>
              </a:ext>
            </a:extLst>
          </p:cNvPr>
          <p:cNvSpPr/>
          <p:nvPr/>
        </p:nvSpPr>
        <p:spPr>
          <a:xfrm>
            <a:off x="16214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B206711F-C83D-E8C3-61DE-8E891E48C61B}"/>
              </a:ext>
            </a:extLst>
          </p:cNvPr>
          <p:cNvSpPr txBox="1"/>
          <p:nvPr/>
        </p:nvSpPr>
        <p:spPr>
          <a:xfrm>
            <a:off x="175834" y="1875160"/>
            <a:ext cx="11840332" cy="1225940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CausalImpact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는 베이지안 구조적 시계열 모형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(BSTS)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을 통해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'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개입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(Intervention)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이 없었을 경우의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반사실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(Counterfactual)'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을 정교하게 예측함으로써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정책이나 특정 이벤트가 가져온 순수한 인과적 효과를 정량적으로 규명하는 방법론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FBAAE7-6F3A-A479-200E-A1200C59A0F3}"/>
              </a:ext>
            </a:extLst>
          </p:cNvPr>
          <p:cNvSpPr/>
          <p:nvPr/>
        </p:nvSpPr>
        <p:spPr>
          <a:xfrm>
            <a:off x="454183" y="1275926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</a:rPr>
              <a:t>CausalImpact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C57B4CD4-8E5D-4A69-E334-9D43E12F1EEA}"/>
              </a:ext>
            </a:extLst>
          </p:cNvPr>
          <p:cNvSpPr txBox="1"/>
          <p:nvPr/>
        </p:nvSpPr>
        <p:spPr>
          <a:xfrm>
            <a:off x="162144" y="2939143"/>
            <a:ext cx="11840332" cy="3241318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단순 전후 비교의 오류 해결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단순히 이벤트 전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vs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후를 비교할 때 발생하는 외부 요인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계절성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기타 트렌드 등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의 간섭을 배제하고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순수한 정책 효과만 확인 가능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정량적 수치 제시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모호한 표현 대신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누적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ㅇㅇ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건 예방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,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ㅇㅇ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%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감소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와 같이 구체적인 수치로 제시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불확실성의 시각화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예측의 신뢰구간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(Confidence Interval)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을 함께 보여줌으로써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이 결과가 통계적으로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유의미한지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직관적으로 볼 수 있음</a:t>
            </a:r>
          </a:p>
        </p:txBody>
      </p:sp>
    </p:spTree>
    <p:extLst>
      <p:ext uri="{BB962C8B-B14F-4D97-AF65-F5344CB8AC3E}">
        <p14:creationId xmlns:p14="http://schemas.microsoft.com/office/powerpoint/2010/main" val="3394568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1E72D-A554-8BF3-171E-CE320152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7723BF-C1A0-C667-8BAA-5F2272AD8C81}"/>
              </a:ext>
            </a:extLst>
          </p:cNvPr>
          <p:cNvSpPr/>
          <p:nvPr/>
        </p:nvSpPr>
        <p:spPr>
          <a:xfrm>
            <a:off x="0" y="1"/>
            <a:ext cx="12192000" cy="546099"/>
          </a:xfrm>
          <a:prstGeom prst="rect">
            <a:avLst/>
          </a:prstGeom>
          <a:solidFill>
            <a:srgbClr val="4444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600" i="1" dirty="0" err="1"/>
              <a:t>CausalImpact</a:t>
            </a:r>
            <a:endParaRPr lang="en-US" altLang="ko-KR" sz="16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47CA8C-D5A0-0167-598D-F9809560B483}"/>
              </a:ext>
            </a:extLst>
          </p:cNvPr>
          <p:cNvSpPr/>
          <p:nvPr/>
        </p:nvSpPr>
        <p:spPr>
          <a:xfrm>
            <a:off x="312671" y="552462"/>
            <a:ext cx="1155296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야놀자 야체 R" panose="02020603020101020101" pitchFamily="18" charset="-127"/>
                <a:ea typeface="야놀자 야체 R" panose="02020603020101020101" pitchFamily="18" charset="-127"/>
              </a:rPr>
              <a:t>결론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야놀자 야체 R" panose="02020603020101020101" pitchFamily="18" charset="-127"/>
              <a:ea typeface="야놀자 야체 R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B5DE47-35C2-6EC8-3BE9-A79B36D1D8E1}"/>
              </a:ext>
            </a:extLst>
          </p:cNvPr>
          <p:cNvSpPr/>
          <p:nvPr/>
        </p:nvSpPr>
        <p:spPr>
          <a:xfrm>
            <a:off x="162144" y="1011819"/>
            <a:ext cx="11854022" cy="5724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26DF24D9-DC60-19A8-B93F-899D94177522}"/>
              </a:ext>
            </a:extLst>
          </p:cNvPr>
          <p:cNvSpPr txBox="1"/>
          <p:nvPr/>
        </p:nvSpPr>
        <p:spPr>
          <a:xfrm>
            <a:off x="162144" y="1806250"/>
            <a:ext cx="11840332" cy="1225940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합성 대조군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(Synthetic Control)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활용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분석 대상의 데이터만 보는 것이 아니라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상관관계가 높은 다른 대조군의 데이터를 결합하여 정교한 예측모델을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만듬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자동화된 해석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복잡한 통계 수식을 몰라도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summary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리포트를 통해 직관적인 해석이 가능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A0F134-B385-05A7-97D6-F4F840DB1BFE}"/>
              </a:ext>
            </a:extLst>
          </p:cNvPr>
          <p:cNvSpPr/>
          <p:nvPr/>
        </p:nvSpPr>
        <p:spPr>
          <a:xfrm>
            <a:off x="454183" y="1275926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장점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27450ACB-64F6-60EC-4FF9-74EFC70AD1C4}"/>
              </a:ext>
            </a:extLst>
          </p:cNvPr>
          <p:cNvSpPr txBox="1"/>
          <p:nvPr/>
        </p:nvSpPr>
        <p:spPr>
          <a:xfrm>
            <a:off x="175834" y="3700333"/>
            <a:ext cx="11840332" cy="1225940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대조군 선정의 중요성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대조군이 극단적인 변화를 겪을 경우 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예측값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반사실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이 과대평가되어 효과가 실제보다 부풀려질 가능성이 있음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공변량의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 독립성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: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대조군 변수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(X)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는 정책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(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이벤트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)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ea typeface="KoPubWorld돋움체 Light"/>
                <a:cs typeface="KoPubWorld돋움체 Light"/>
              </a:rPr>
              <a:t>의 영향을 받지 않아야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6DF29D-1277-358C-59A5-FF917411CD8C}"/>
              </a:ext>
            </a:extLst>
          </p:cNvPr>
          <p:cNvSpPr/>
          <p:nvPr/>
        </p:nvSpPr>
        <p:spPr>
          <a:xfrm>
            <a:off x="467873" y="3157668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한계점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D578724-DE99-93C1-AAE5-DA1E434909CC}"/>
              </a:ext>
            </a:extLst>
          </p:cNvPr>
          <p:cNvSpPr txBox="1"/>
          <p:nvPr/>
        </p:nvSpPr>
        <p:spPr>
          <a:xfrm>
            <a:off x="162144" y="5582074"/>
            <a:ext cx="11840332" cy="1225940"/>
          </a:xfrm>
          <a:prstGeom prst="rect">
            <a:avLst/>
          </a:prstGeom>
        </p:spPr>
        <p:txBody>
          <a:bodyPr anchor="t"/>
          <a:lstStyle>
            <a:lvl1pPr marL="0" lvl="0" indent="0" algn="l" defTabSz="232257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 kumimoji="0" sz="1600" b="0" i="0" u="none" strike="noStrike" kern="1200" cap="none" spc="-150" normalizeH="0" baseline="0">
                <a:solidFill>
                  <a:schemeClr val="tx1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pPr marL="360000" lvl="0" indent="-216000">
              <a:buFont typeface="Arial"/>
              <a:buChar char="•"/>
              <a:defRPr/>
            </a:pP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R&amp;D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투자 성과 분석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-&gt;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특정 신기술 도입이나 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R&amp;D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예산 증액 시점 이후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기업의 특허 출원 수나 매출액이 과거 추세 대비 얼마나 증가했는지 인과 효과 측정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  <a:p>
            <a:pPr marL="360000" lvl="0" indent="-216000">
              <a:buFont typeface="Arial"/>
              <a:buChar char="•"/>
              <a:defRPr/>
            </a:pP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공정 개선 효과 점증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공급망 관리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정책 평가</a:t>
            </a:r>
            <a:r>
              <a:rPr lang="en-US" altLang="ko-KR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, </a:t>
            </a:r>
            <a:r>
              <a:rPr lang="ko-KR" altLang="en-US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KoPubWorld돋움체 Light"/>
                <a:cs typeface="KoPubWorld돋움체 Light"/>
              </a:rPr>
              <a:t>영향 분석 등</a:t>
            </a:r>
            <a:endParaRPr lang="en-US" altLang="ko-KR" spc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World돋움체 Light"/>
              <a:cs typeface="KoPubWorld돋움체 Light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982B29-3A0C-F127-BDC1-F38DA2040EAD}"/>
              </a:ext>
            </a:extLst>
          </p:cNvPr>
          <p:cNvSpPr/>
          <p:nvPr/>
        </p:nvSpPr>
        <p:spPr>
          <a:xfrm>
            <a:off x="440493" y="4982840"/>
            <a:ext cx="2161309" cy="4048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활용방안</a:t>
            </a:r>
            <a:endParaRPr lang="en-US" altLang="ko-KR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589502"/>
      </p:ext>
    </p:extLst>
  </p:cSld>
  <p:clrMapOvr>
    <a:masterClrMapping/>
  </p:clrMapOvr>
</p:sld>
</file>

<file path=ppt/theme/theme1.xml><?xml version="1.0" encoding="utf-8"?>
<a:theme xmlns:a="http://schemas.openxmlformats.org/drawingml/2006/main" name="106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1526</Words>
  <Application>Microsoft Office PowerPoint</Application>
  <PresentationFormat>와이드스크린</PresentationFormat>
  <Paragraphs>132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KoPubWorld돋움체 Light</vt:lpstr>
      <vt:lpstr>맑은 고딕</vt:lpstr>
      <vt:lpstr>야놀자 야체 R</vt:lpstr>
      <vt:lpstr>Arial</vt:lpstr>
      <vt:lpstr>106_Office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요청사항</dc:creator>
  <cp:lastModifiedBy>이 지훈</cp:lastModifiedBy>
  <cp:revision>173</cp:revision>
  <dcterms:created xsi:type="dcterms:W3CDTF">2017-08-07T07:53:17Z</dcterms:created>
  <dcterms:modified xsi:type="dcterms:W3CDTF">2026-01-13T19:55:57Z</dcterms:modified>
</cp:coreProperties>
</file>